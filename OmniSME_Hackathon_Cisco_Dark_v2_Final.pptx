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8288"/>
  </p:normalViewPr>
  <p:slideViewPr>
    <p:cSldViewPr snapToGrid="0" snapToObjects="1">
      <p:cViewPr varScale="1">
        <p:scale>
          <a:sx n="98" d="100"/>
          <a:sy n="98" d="100"/>
        </p:scale>
        <p:origin x="16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458497-DD03-1F48-A51F-B21A2739482A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312BD-0284-3A48-B306-583817A5B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631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dirty="0">
                <a:latin typeface="Arial"/>
              </a:rPr>
              <a:t>Imagine you're a Cisco Customer Success Specialist. You've just wrapped a three-day session with six subject-matter experts — each one flew in from a different city. The knowledge in that room? Extraordinary.</a:t>
            </a:r>
          </a:p>
          <a:p>
            <a:r>
              <a:rPr lang="en-US" sz="1200" b="0" dirty="0">
                <a:latin typeface="Arial"/>
              </a:rPr>
              <a:t>Three months later, a new engineer joins the team and asks: "Is there a video covering what we discussed?" There isn't. That extraordinary expertise is buried in a raw recording that nobody has the time — or the tools — to turn into something watchable.</a:t>
            </a:r>
          </a:p>
          <a:p>
            <a:r>
              <a:rPr lang="en-US" sz="1200" b="0" dirty="0">
                <a:latin typeface="Arial"/>
              </a:rPr>
              <a:t>My name is Hardik Raval. Together with Rahul Bhardwaj, Akshay Chavan, and Vijay Dhanvani from Cisco CX Customer Success — we got tired of watching knowledge disappear. So we built OmniSME.</a:t>
            </a:r>
          </a:p>
          <a:p>
            <a:r>
              <a:rPr lang="en-US" sz="1200" b="0" dirty="0">
                <a:latin typeface="Arial"/>
              </a:rPr>
              <a:t>Here is what it does in one sentence: paste in a topic and a handful of YouTube or recorded session URLs, press Generate, and twenty-five minutes later you hold a polished, AI-avatar-narrated training video — with the relevant source footage playing live in the background.</a:t>
            </a:r>
          </a:p>
          <a:p>
            <a:r>
              <a:rPr lang="en-US" sz="1200" b="0" dirty="0">
                <a:latin typeface="Arial"/>
              </a:rPr>
              <a:t>No video editor. No post-production team. No booking an SME's calendar. Just knowledge — captured, structured, and published.</a:t>
            </a:r>
          </a:p>
          <a:p>
            <a:r>
              <a:rPr lang="en-US" sz="1200" b="0" dirty="0">
                <a:latin typeface="Arial"/>
              </a:rPr>
              <a:t>The engine running this: OpenAI GPT-4o for scripting, HeyGen for the AI avatar, FAISS for retrieval, and Streamlit as the front door — all wired into a five-stage automated pipeline.</a:t>
            </a:r>
          </a:p>
          <a:p>
            <a:r>
              <a:rPr lang="en-US" sz="1200" b="0" dirty="0">
                <a:latin typeface="Arial"/>
              </a:rPr>
              <a:t>But before I show you how it works, let me show you why it had to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312BD-0284-3A48-B306-000000000001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dirty="0">
                <a:latin typeface="Arial"/>
              </a:rPr>
              <a:t>Here is a scenario every person in this room has lived.</a:t>
            </a:r>
          </a:p>
          <a:p>
            <a:r>
              <a:rPr lang="en-US" sz="1200" b="0" dirty="0">
                <a:latin typeface="Arial"/>
              </a:rPr>
              <a:t>A product update drops. Customers need training. Your CSS team needs enablement. Someone asks: 'Is there a video?' There isn't. A volunteer steps up. Now begins the real work.</a:t>
            </a:r>
          </a:p>
          <a:p>
            <a:r>
              <a:rPr lang="en-US" sz="1200" b="0" dirty="0">
                <a:latin typeface="Arial"/>
              </a:rPr>
              <a:t>You need an SME willing to record — and free that week. You need a script, a decent camera, lighting, editing, captions, review cycles, and a final approval chain. Forty-plus hours of effort later — if nothing changes — you have a seven-minute training video.</a:t>
            </a:r>
          </a:p>
          <a:p>
            <a:r>
              <a:rPr lang="en-US" sz="1200" b="0" dirty="0">
                <a:latin typeface="Arial"/>
              </a:rPr>
              <a:t>We measured this cost: $2,000 to $3,000 per video, three to six weeks from idea to published asset. And seventy-three percent of CX teams told us this is an active, critical blocker to their work.</a:t>
            </a:r>
          </a:p>
          <a:p>
            <a:r>
              <a:rPr lang="en-US" sz="1200" b="0" dirty="0">
                <a:latin typeface="Arial"/>
              </a:rPr>
              <a:t>The cruel irony? The knowledge already exists. It lives in recorded EIS sessions, in YouTube deep-dives, in conference talks. But it takes a professional video team to transform raw knowledge into something a learner can actually sit through.</a:t>
            </a:r>
          </a:p>
          <a:p>
            <a:r>
              <a:rPr lang="en-US" sz="1200" b="0" dirty="0">
                <a:latin typeface="Arial"/>
              </a:rPr>
              <a:t>That gap — between knowledge that exists and training that is accessible — is exactly the gap OmniSME closes. And here is 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312BD-0284-3A48-B306-000000000002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dirty="0">
                <a:latin typeface="Arial"/>
              </a:rPr>
              <a:t>Here is where the story gets exciting.</a:t>
            </a:r>
          </a:p>
          <a:p>
            <a:r>
              <a:rPr lang="en-US" sz="1200" b="0" dirty="0">
                <a:latin typeface="Arial"/>
              </a:rPr>
              <a:t>Stage one: you hand OmniSME your source URLs. LangChain's YoutubeLoader extracts the full transcript from every video you provide. No copy-paste. No manual transcription. Pure source material, ready for AI in seconds.</a:t>
            </a:r>
          </a:p>
          <a:p>
            <a:r>
              <a:rPr lang="en-US" sz="1200" b="0" dirty="0">
                <a:latin typeface="Arial"/>
              </a:rPr>
              <a:t>Stage two: those transcripts are chunked, embedded into a FAISS vector store, and GPT-4o retrieves only the segments most relevant to your topic — then writes a structured presenter script. Not hallucinated. Not generic. Grounded exclusively in what your sources say.</a:t>
            </a:r>
          </a:p>
          <a:p>
            <a:r>
              <a:rPr lang="en-US" sz="1200" b="0" dirty="0">
                <a:latin typeface="Arial"/>
              </a:rPr>
              <a:t>Stage three is the one I am most proud of. Our Smart Segment Selector scans the source videos and pinpoints the exact timestamp ranges most relevant to the topic. These clips become the live, full-screen background footage in the final video.</a:t>
            </a:r>
          </a:p>
          <a:p>
            <a:r>
              <a:rPr lang="en-US" sz="1200" b="0" dirty="0">
                <a:latin typeface="Arial"/>
              </a:rPr>
              <a:t>Stage four: the script is submitted to HeyGen's REST API. An AI avatar — your choice of face and voice — records the narration. And if HeyGen takes longer than expected? OmniSME saves the video ID and resumes without restarting. No lost work, ever.</a:t>
            </a:r>
          </a:p>
          <a:p>
            <a:r>
              <a:rPr lang="en-US" sz="1200" b="0" dirty="0">
                <a:latin typeface="Arial"/>
              </a:rPr>
              <a:t>Stage five: FFmpeg composites the avatar over the relevant source clips — full-screen, muted. The output is a broadcast-ready MP4, downloadable in one click.</a:t>
            </a:r>
          </a:p>
          <a:p>
            <a:r>
              <a:rPr lang="en-US" sz="1200" b="0" dirty="0">
                <a:latin typeface="Arial"/>
              </a:rPr>
              <a:t>Five stages. Fully automated. Zero human editing. Under twenty-five minutes. Every step visible through a live progress bar in the Streamlit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312BD-0284-3A48-B306-000000000003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dirty="0">
                <a:latin typeface="Arial"/>
              </a:rPr>
              <a:t>Any team can wire together a few APIs and call it an AI tool. What separates OmniSME is the thinking behind every design decision.</a:t>
            </a:r>
          </a:p>
          <a:p>
            <a:r>
              <a:rPr lang="en-US" sz="1200" b="0" dirty="0">
                <a:latin typeface="Arial"/>
              </a:rPr>
              <a:t>Picture-in-Picture mode. We did not add it because it looks impressive — we added it because learners do not just need to hear an explanation, they need to see it in context. When the avatar explains a QoS configuration, the actual network diagram from the source video plays full-screen behind it. Expert voice and visual evidence, simultaneously.</a:t>
            </a:r>
          </a:p>
          <a:p>
            <a:r>
              <a:rPr lang="en-US" sz="1200" b="0" dirty="0">
                <a:latin typeface="Arial"/>
              </a:rPr>
              <a:t>Source-grounded output was non-negotiable from day one. GPT-4o is constrained to use only the content from the URLs you provide. Every fact in the video is traceable back to your knowledge base. For customer-facing training and compliance content, this is not a nice-to-have — it is a hard requirement.</a:t>
            </a:r>
          </a:p>
          <a:p>
            <a:r>
              <a:rPr lang="en-US" sz="1200" b="0" dirty="0">
                <a:latin typeface="Arial"/>
              </a:rPr>
              <a:t>Multi-avatar and multi-voice selection means one topic, many audiences. Swap the avatar for an APAC region. Switch to a different voice for a partner training. One dropdown in the UI. Zero additional development work.</a:t>
            </a:r>
          </a:p>
          <a:p>
            <a:r>
              <a:rPr lang="en-US" sz="1200" b="0" dirty="0">
                <a:latin typeface="Arial"/>
              </a:rPr>
              <a:t>Resilient render resumption came from lived experience. HeyGen renders can take thirty or more minutes. We could not afford to lose that progress to a browser timeout, so OmniSME saves the video ID to session state — you pick up exactly where you left off, any time, any session.</a:t>
            </a:r>
          </a:p>
          <a:p>
            <a:r>
              <a:rPr lang="en-US" sz="1200" b="0" dirty="0">
                <a:latin typeface="Arial"/>
              </a:rPr>
              <a:t>And a one-click Regenerate button means you can iterate the script instantly — same topic, same sources, fresh angle — without re-entering a single input.</a:t>
            </a:r>
          </a:p>
          <a:p>
            <a:r>
              <a:rPr lang="en-US" sz="1200" b="0" dirty="0">
                <a:latin typeface="Arial"/>
              </a:rPr>
              <a:t>These are not features we built for the demo. These are features we built because we felt every one of these pain points ourselves.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312BD-0284-3A48-B306-000000000004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dirty="0">
                <a:latin typeface="Arial"/>
              </a:rPr>
              <a:t>Let me put concrete numbers on the transformation.</a:t>
            </a:r>
          </a:p>
          <a:p>
            <a:r>
              <a:rPr lang="en-US" sz="1200" b="0" dirty="0">
                <a:latin typeface="Arial"/>
              </a:rPr>
              <a:t>Before OmniSME: forty-plus hours of production work, $2,000 to $3,000 in cost, three to six weeks to delivery, and an SME who had to block two days of their calendar for a single video.</a:t>
            </a:r>
          </a:p>
          <a:p>
            <a:r>
              <a:rPr lang="en-US" sz="1200" b="0" dirty="0">
                <a:latin typeface="Arial"/>
              </a:rPr>
              <a:t>After OmniSME: twenty-five minutes, four dollars and fifty cents in API costs, same-day delivery, and the SME does not need to be in the room at all. That is not incremental improvement — that is a category shift.</a:t>
            </a:r>
          </a:p>
          <a:p>
            <a:r>
              <a:rPr lang="en-US" sz="1200" b="0" dirty="0">
                <a:latin typeface="Arial"/>
              </a:rPr>
              <a:t>Our first target is EIS sessions. Right now, those require six to seven subject-matter experts in the room. With OmniSME, the knowledge from any EIS session is captured, structured, and published as a training asset before the participants have even landed back home.</a:t>
            </a:r>
          </a:p>
          <a:p>
            <a:r>
              <a:rPr lang="en-US" sz="1200" b="0" dirty="0">
                <a:latin typeface="Arial"/>
              </a:rPr>
              <a:t>Looking at the roadmap: v4 connects SharePoint and Confluence as knowledge sources, adds SCORM export for LMS platforms, and enables batch processing for entire topic libraries in a single run. v5 ingests Cisco Webex meeting recordings directly — so any conversation automatically becomes training, the moment the call ends.</a:t>
            </a:r>
          </a:p>
          <a:p>
            <a:r>
              <a:rPr lang="en-US" sz="1200" b="0" dirty="0">
                <a:latin typeface="Arial"/>
              </a:rPr>
              <a:t>We are ready to demonstrate this live right now. One command — streamlit run app.py — and you will watch a topic become a published training video in under twenty-five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312BD-0284-3A48-B306-000000000005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EB6F9-D531-F119-D3A3-7E1B8F0DE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37269D-A43B-A7CB-9502-7C38882397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BCDD30-37DF-4C49-22DB-08D00247E6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dirty="0">
                <a:latin typeface="Arial"/>
              </a:rPr>
              <a:t>The ask is straightforward: help us integrate </a:t>
            </a:r>
            <a:r>
              <a:rPr lang="en-US" sz="1200" b="0" dirty="0" err="1">
                <a:latin typeface="Arial"/>
              </a:rPr>
              <a:t>OmniSME</a:t>
            </a:r>
            <a:r>
              <a:rPr lang="en-US" sz="1200" b="0" dirty="0">
                <a:latin typeface="Arial"/>
              </a:rPr>
              <a:t> into Cisco's CX enablement pipeline and connect us with the Learning and Development team. Let's turn this hackathon project into Cisco's AI knowledge engine.</a:t>
            </a:r>
          </a:p>
          <a:p>
            <a:r>
              <a:rPr lang="en-US" sz="1200" b="0" dirty="0">
                <a:latin typeface="Arial"/>
              </a:rPr>
              <a:t>Thank </a:t>
            </a:r>
            <a:r>
              <a:rPr lang="en-US" sz="1200" b="0">
                <a:latin typeface="Arial"/>
              </a:rPr>
              <a:t>you.</a:t>
            </a:r>
            <a:endParaRPr lang="en-US" sz="1200" b="0" dirty="0">
              <a:latin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35D04-E525-2924-0269-89A0A08AA9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F312BD-0284-3A48-B306-0000000000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2934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62B919-F03C-418E-4BDA-052AD7E6262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10938" y="6672580"/>
            <a:ext cx="8350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vidcast.io/share/73934f39-a71f-43ef-a181-1d83e06d7a53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hyperlink" Target="https://app.vidcast.io/share/cb5d873f-f41b-4f88-9a27-a7bce77d84e3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pp.vidcast.io/share/cb5d873f-f41b-4f88-9a27-a7bce77d84e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1280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CEB"/>
                </a:solidFill>
                <a:latin typeface="Arial"/>
              </a:rPr>
              <a:t>CISCO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389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94B0"/>
                </a:solidFill>
                <a:latin typeface="Arial"/>
              </a:rPr>
              <a:t>Customer Experience  ·  Customer Success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2801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7E94B0"/>
                </a:solidFill>
                <a:latin typeface="Arial"/>
              </a:rPr>
              <a:t>HACKATHON 2026</a:t>
            </a:r>
          </a:p>
        </p:txBody>
      </p:sp>
      <p:pic>
        <p:nvPicPr>
          <p:cNvPr id="7" name="Picture 6" descr="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245" y="128016"/>
            <a:ext cx="5740580" cy="50181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45422" y="692948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0BCEB"/>
                </a:solidFill>
                <a:latin typeface="Arial"/>
              </a:rPr>
              <a:t>INTRODUCING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014" y="874241"/>
            <a:ext cx="5852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 dirty="0" err="1">
                <a:solidFill>
                  <a:srgbClr val="00BCEB"/>
                </a:solidFill>
                <a:latin typeface="Arial"/>
              </a:rPr>
              <a:t>OmniSME</a:t>
            </a:r>
            <a:endParaRPr sz="5600" b="1" i="0" dirty="0">
              <a:solidFill>
                <a:srgbClr val="00BCEB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499" y="1536674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FFFFFF"/>
                </a:solidFill>
                <a:latin typeface="Arial"/>
              </a:rPr>
              <a:t>AI Video Generator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599" y="2076739"/>
            <a:ext cx="411480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5014" y="2199380"/>
            <a:ext cx="57607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 dirty="0">
                <a:solidFill>
                  <a:srgbClr val="7E94B0"/>
                </a:solidFill>
                <a:latin typeface="Arial"/>
              </a:rPr>
              <a:t>Turn </a:t>
            </a:r>
            <a:r>
              <a:rPr lang="en-US" sz="1500" i="1" dirty="0">
                <a:solidFill>
                  <a:srgbClr val="7E94B0"/>
                </a:solidFill>
                <a:latin typeface="Arial"/>
              </a:rPr>
              <a:t>Multiple</a:t>
            </a:r>
            <a:r>
              <a:rPr sz="1500" b="0" i="1" dirty="0">
                <a:solidFill>
                  <a:srgbClr val="7E94B0"/>
                </a:solidFill>
                <a:latin typeface="Arial"/>
              </a:rPr>
              <a:t>YouTube</a:t>
            </a:r>
            <a:r>
              <a:rPr lang="en-US" sz="1500" b="0" i="1" dirty="0">
                <a:solidFill>
                  <a:srgbClr val="7E94B0"/>
                </a:solidFill>
                <a:latin typeface="Arial"/>
              </a:rPr>
              <a:t> / Stored</a:t>
            </a:r>
            <a:r>
              <a:rPr sz="1500" b="0" i="1" dirty="0">
                <a:solidFill>
                  <a:srgbClr val="7E94B0"/>
                </a:solidFill>
                <a:latin typeface="Arial"/>
              </a:rPr>
              <a:t> knowledge base into a polished,
AI-avatar-narrated expert video — in minutes, not days.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297" y="2823744"/>
            <a:ext cx="6512010" cy="685800"/>
          </a:xfrm>
          <a:prstGeom prst="rect">
            <a:avLst/>
          </a:prstGeom>
          <a:solidFill>
            <a:srgbClr val="1A2E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28600" y="2823744"/>
            <a:ext cx="54864" cy="685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0700" y="28134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6B00"/>
                </a:solidFill>
                <a:latin typeface="Arial"/>
              </a:rPr>
              <a:t>🔴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" y="3062938"/>
            <a:ext cx="663970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dirty="0">
                <a:solidFill>
                  <a:srgbClr val="7E94B0"/>
                </a:solidFill>
                <a:latin typeface="Arial"/>
              </a:rPr>
              <a:t>CSS / </a:t>
            </a:r>
            <a:r>
              <a:rPr sz="1300" b="0" i="0" dirty="0">
                <a:solidFill>
                  <a:srgbClr val="7E94B0"/>
                </a:solidFill>
                <a:latin typeface="Arial"/>
              </a:rPr>
              <a:t>SME </a:t>
            </a:r>
            <a:r>
              <a:rPr lang="en-US" sz="1300" b="0" i="0" dirty="0">
                <a:solidFill>
                  <a:srgbClr val="7E94B0"/>
                </a:solidFill>
                <a:latin typeface="Arial"/>
              </a:rPr>
              <a:t>/ BU </a:t>
            </a:r>
            <a:r>
              <a:rPr sz="1300" b="0" i="0" dirty="0">
                <a:solidFill>
                  <a:srgbClr val="7E94B0"/>
                </a:solidFill>
                <a:latin typeface="Arial"/>
              </a:rPr>
              <a:t>knowledge locked in hours of video; creating new content </a:t>
            </a:r>
            <a:r>
              <a:rPr lang="en-US" sz="1300" b="0" i="0" dirty="0">
                <a:solidFill>
                  <a:srgbClr val="7E94B0"/>
                </a:solidFill>
                <a:latin typeface="Arial"/>
              </a:rPr>
              <a:t>&amp; searching specific content from existing videos</a:t>
            </a:r>
            <a:r>
              <a:rPr lang="en-US" sz="1300" dirty="0">
                <a:solidFill>
                  <a:srgbClr val="7E94B0"/>
                </a:solidFill>
                <a:latin typeface="Arial"/>
              </a:rPr>
              <a:t> takes hours.</a:t>
            </a:r>
            <a:endParaRPr sz="1300" b="0" i="0" dirty="0">
              <a:solidFill>
                <a:srgbClr val="7E94B0"/>
              </a:solidFill>
              <a:latin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28600" y="3655506"/>
            <a:ext cx="6502708" cy="685800"/>
          </a:xfrm>
          <a:prstGeom prst="rect">
            <a:avLst/>
          </a:prstGeom>
          <a:solidFill>
            <a:srgbClr val="1A2E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28600" y="3655506"/>
            <a:ext cx="54864" cy="685800"/>
          </a:xfrm>
          <a:prstGeom prst="rect">
            <a:avLst/>
          </a:prstGeom>
          <a:solidFill>
            <a:srgbClr val="6D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3763" y="367263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6DBE4E"/>
                </a:solidFill>
                <a:latin typeface="Arial"/>
              </a:rPr>
              <a:t>🟢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865" y="3919762"/>
            <a:ext cx="650270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7E94B0"/>
                </a:solidFill>
                <a:latin typeface="Arial"/>
              </a:rPr>
              <a:t>AI extracts, scripts, and renders professional avatar videos from source URLs in one click.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9297" y="4485482"/>
            <a:ext cx="6512011" cy="1565052"/>
          </a:xfrm>
          <a:prstGeom prst="rect">
            <a:avLst/>
          </a:prstGeom>
          <a:solidFill>
            <a:srgbClr val="1A2E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19298" y="4517009"/>
            <a:ext cx="54864" cy="1470074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19295" y="448921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0BCEB"/>
                </a:solidFill>
                <a:latin typeface="Arial"/>
              </a:rPr>
              <a:t>🔵 Differentiator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2319" y="6137982"/>
            <a:ext cx="1239012" cy="292608"/>
          </a:xfrm>
          <a:prstGeom prst="roundRect">
            <a:avLst>
              <a:gd name="adj" fmla="val 37500"/>
            </a:avLst>
          </a:prstGeom>
          <a:solidFill>
            <a:srgbClr val="1E3A5F"/>
          </a:solidFill>
          <a:ln w="6350">
            <a:solidFill>
              <a:srgbClr val="007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5471" y="6174558"/>
            <a:ext cx="11475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CEB"/>
                </a:solidFill>
                <a:latin typeface="Arial"/>
              </a:rPr>
              <a:t>OpenAI GPT-4o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32771" y="6137982"/>
            <a:ext cx="1316736" cy="292608"/>
          </a:xfrm>
          <a:prstGeom prst="roundRect">
            <a:avLst>
              <a:gd name="adj" fmla="val 37500"/>
            </a:avLst>
          </a:prstGeom>
          <a:solidFill>
            <a:srgbClr val="1E3A5F"/>
          </a:solidFill>
          <a:ln w="6350">
            <a:solidFill>
              <a:srgbClr val="007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605923" y="6174558"/>
            <a:ext cx="1225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CEB"/>
                </a:solidFill>
                <a:latin typeface="Arial"/>
              </a:rPr>
              <a:t>HeyGen Avatars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40947" y="6137982"/>
            <a:ext cx="928116" cy="292608"/>
          </a:xfrm>
          <a:prstGeom prst="roundRect">
            <a:avLst>
              <a:gd name="adj" fmla="val 37500"/>
            </a:avLst>
          </a:prstGeom>
          <a:solidFill>
            <a:srgbClr val="1E3A5F"/>
          </a:solidFill>
          <a:ln w="6350">
            <a:solidFill>
              <a:srgbClr val="007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014099" y="6174558"/>
            <a:ext cx="8366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CEB"/>
                </a:solidFill>
                <a:latin typeface="Arial"/>
              </a:rPr>
              <a:t>FAISS RAG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60503" y="6137982"/>
            <a:ext cx="928116" cy="292608"/>
          </a:xfrm>
          <a:prstGeom prst="roundRect">
            <a:avLst>
              <a:gd name="adj" fmla="val 37500"/>
            </a:avLst>
          </a:prstGeom>
          <a:solidFill>
            <a:srgbClr val="1E3A5F"/>
          </a:solidFill>
          <a:ln w="6350">
            <a:solidFill>
              <a:srgbClr val="007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33655" y="6174558"/>
            <a:ext cx="8366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CEB"/>
                </a:solidFill>
                <a:latin typeface="Arial"/>
              </a:rPr>
              <a:t>Streamlit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80059" y="6137982"/>
            <a:ext cx="928116" cy="292608"/>
          </a:xfrm>
          <a:prstGeom prst="roundRect">
            <a:avLst>
              <a:gd name="adj" fmla="val 37500"/>
            </a:avLst>
          </a:prstGeom>
          <a:solidFill>
            <a:srgbClr val="1E3A5F"/>
          </a:solidFill>
          <a:ln w="6350">
            <a:solidFill>
              <a:srgbClr val="007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53211" y="6174558"/>
            <a:ext cx="8366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CEB"/>
                </a:solidFill>
                <a:latin typeface="Arial"/>
              </a:rPr>
              <a:t>LangChain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7919" y="5187541"/>
            <a:ext cx="29890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chemeClr val="bg1"/>
                </a:solidFill>
                <a:latin typeface="Arial"/>
              </a:rPr>
              <a:t>Hardik Raval  </a:t>
            </a:r>
            <a:r>
              <a:rPr lang="en-US" sz="1400" dirty="0">
                <a:solidFill>
                  <a:schemeClr val="bg1"/>
                </a:solidFill>
                <a:latin typeface="Arial"/>
              </a:rPr>
              <a:t>- Rahul</a:t>
            </a:r>
            <a:r>
              <a:rPr sz="1400" b="0" i="0" dirty="0">
                <a:solidFill>
                  <a:schemeClr val="bg1"/>
                </a:solidFill>
                <a:latin typeface="Arial"/>
              </a:rPr>
              <a:t> Bhardwaj</a:t>
            </a:r>
            <a:r>
              <a:rPr lang="en-US" sz="1400" b="0" i="0" dirty="0">
                <a:solidFill>
                  <a:schemeClr val="bg1"/>
                </a:solidFill>
                <a:latin typeface="Arial"/>
              </a:rPr>
              <a:t> </a:t>
            </a:r>
            <a:endParaRPr lang="en-US" sz="1400" dirty="0">
              <a:solidFill>
                <a:schemeClr val="bg1"/>
              </a:solidFill>
              <a:latin typeface="Arial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Arial"/>
              </a:rPr>
              <a:t>A</a:t>
            </a:r>
            <a:r>
              <a:rPr lang="en-US" sz="1400" b="0" i="0" dirty="0">
                <a:solidFill>
                  <a:schemeClr val="bg1"/>
                </a:solidFill>
                <a:latin typeface="Arial"/>
              </a:rPr>
              <a:t>kshay Chavan - Vijay Dhanvani</a:t>
            </a:r>
            <a:r>
              <a:rPr sz="1400" b="0" i="0" dirty="0">
                <a:solidFill>
                  <a:schemeClr val="bg1"/>
                </a:solidFill>
                <a:latin typeface="Arial"/>
              </a:rPr>
              <a:t> </a:t>
            </a:r>
            <a:endParaRPr lang="en-US" sz="1400" b="0" i="0" dirty="0">
              <a:solidFill>
                <a:schemeClr val="bg1"/>
              </a:solidFill>
              <a:latin typeface="Arial"/>
            </a:endParaRPr>
          </a:p>
          <a:p>
            <a:pPr algn="ctr"/>
            <a:r>
              <a:rPr lang="en-IN" sz="1400" b="1" i="0" dirty="0">
                <a:solidFill>
                  <a:schemeClr val="bg1"/>
                </a:solidFill>
                <a:latin typeface="Arial"/>
              </a:rPr>
              <a:t>CX Customer Success Specialist</a:t>
            </a:r>
            <a:endParaRPr sz="1400" b="1" i="0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435176" y="6634593"/>
            <a:ext cx="65120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 dirty="0">
                <a:solidFill>
                  <a:srgbClr val="7E94B0"/>
                </a:solidFill>
                <a:latin typeface="Arial"/>
              </a:rPr>
              <a:t>© 2026 Cisco and/or its affiliates. All rights reserved. | Cisco Confidential | Hackathon 2026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5ABF1C-6BEC-0BF4-016A-440B3E0790A6}"/>
              </a:ext>
            </a:extLst>
          </p:cNvPr>
          <p:cNvSpPr txBox="1"/>
          <p:nvPr/>
        </p:nvSpPr>
        <p:spPr>
          <a:xfrm>
            <a:off x="427492" y="5134442"/>
            <a:ext cx="591159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EIS Sessions are 1st target, As it requires 6-7 experts which can be optimise to 3 or less experts.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D113C6-A907-1B2F-E4EC-7E40793D7EED}"/>
              </a:ext>
            </a:extLst>
          </p:cNvPr>
          <p:cNvSpPr txBox="1"/>
          <p:nvPr/>
        </p:nvSpPr>
        <p:spPr>
          <a:xfrm>
            <a:off x="418264" y="5568931"/>
            <a:ext cx="52603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CSS, SE for quick training on any technology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97C69D-BB21-8D96-FDDA-1B514C7D6FE5}"/>
              </a:ext>
            </a:extLst>
          </p:cNvPr>
          <p:cNvSpPr txBox="1"/>
          <p:nvPr/>
        </p:nvSpPr>
        <p:spPr>
          <a:xfrm>
            <a:off x="418264" y="5823278"/>
            <a:ext cx="52603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Foundational session on technology to Customer / Partners 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422AD0-9731-F4CB-ECFF-3ADB404B45B2}"/>
              </a:ext>
            </a:extLst>
          </p:cNvPr>
          <p:cNvSpPr txBox="1"/>
          <p:nvPr/>
        </p:nvSpPr>
        <p:spPr>
          <a:xfrm>
            <a:off x="245422" y="4688171"/>
            <a:ext cx="631121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7E94B0"/>
                </a:solidFill>
                <a:latin typeface="Arial"/>
              </a:rPr>
              <a:t>Picture-in-Picture layout shows relevant source footage behind the avatar</a:t>
            </a:r>
            <a:r>
              <a:rPr lang="en-US" sz="1300" dirty="0">
                <a:solidFill>
                  <a:srgbClr val="7E94B0"/>
                </a:solidFill>
                <a:latin typeface="Arial"/>
              </a:rPr>
              <a:t> --</a:t>
            </a:r>
            <a:r>
              <a:rPr sz="1300" b="0" i="0" dirty="0">
                <a:solidFill>
                  <a:srgbClr val="7E94B0"/>
                </a:solidFill>
                <a:latin typeface="Arial"/>
              </a:rPr>
              <a:t> context + narration together.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A56BBE-90C4-3C75-3BCA-F9768A6F3C8C}"/>
              </a:ext>
            </a:extLst>
          </p:cNvPr>
          <p:cNvSpPr txBox="1"/>
          <p:nvPr/>
        </p:nvSpPr>
        <p:spPr>
          <a:xfrm>
            <a:off x="8686799" y="4931501"/>
            <a:ext cx="11057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latin typeface="Arial"/>
              </a:rPr>
              <a:t>By</a:t>
            </a:r>
            <a:endParaRPr sz="1400" b="1" i="0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181345-7670-91C5-C256-62E55CF65DBE}"/>
              </a:ext>
            </a:extLst>
          </p:cNvPr>
          <p:cNvSpPr txBox="1"/>
          <p:nvPr/>
        </p:nvSpPr>
        <p:spPr>
          <a:xfrm>
            <a:off x="7750961" y="5930119"/>
            <a:ext cx="29890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latin typeface="Arial"/>
              </a:rPr>
              <a:t>Mentor</a:t>
            </a:r>
            <a:endParaRPr sz="1400" b="1" i="0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D3592EE-99EF-458E-F8DF-A47C8EA2A345}"/>
              </a:ext>
            </a:extLst>
          </p:cNvPr>
          <p:cNvSpPr txBox="1"/>
          <p:nvPr/>
        </p:nvSpPr>
        <p:spPr>
          <a:xfrm>
            <a:off x="7750961" y="6176842"/>
            <a:ext cx="29890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/>
              </a:rPr>
              <a:t>John Kim</a:t>
            </a:r>
            <a:endParaRPr sz="1400" b="0" i="0" dirty="0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CEB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Enterprise Knowledge Creation is Broken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36576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7480" y="126187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 dirty="0">
                <a:solidFill>
                  <a:srgbClr val="7E94B0"/>
                </a:solidFill>
                <a:latin typeface="Arial"/>
              </a:rPr>
              <a:t>Subject-matter experts spend hundreds of hours scripting and editing training videos — while the knowledge already exists in YouTube content and internal recordings.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11881"/>
            <a:ext cx="5486400" cy="2514600"/>
          </a:xfrm>
          <a:prstGeom prst="roundRect">
            <a:avLst>
              <a:gd name="adj" fmla="val 3636"/>
            </a:avLst>
          </a:prstGeom>
          <a:solidFill>
            <a:srgbClr val="1A2E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3730753"/>
            <a:ext cx="5486400" cy="54864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74904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Arial"/>
              </a:rPr>
              <a:t>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76473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CEB"/>
                </a:solidFill>
                <a:latin typeface="Arial"/>
              </a:rPr>
              <a:t>Content Exists — Access Doesn't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0249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94B0"/>
                </a:solidFill>
                <a:latin typeface="Arial"/>
              </a:rPr>
              <a:t>Vast libraries of YouTube tutorials, recorded webinars, and conference talks sit unused because repurposing them requires professional video teams and weeks of effort. Knowledge stays locked inside experts' heads.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611881"/>
            <a:ext cx="5486400" cy="2514600"/>
          </a:xfrm>
          <a:prstGeom prst="roundRect">
            <a:avLst>
              <a:gd name="adj" fmla="val 3636"/>
            </a:avLst>
          </a:prstGeom>
          <a:solidFill>
            <a:srgbClr val="1A2E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3730753"/>
            <a:ext cx="548640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74904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Arial"/>
              </a:rPr>
              <a:t>⏱️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776473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00"/>
                </a:solidFill>
                <a:latin typeface="Arial"/>
              </a:rPr>
              <a:t>Speed-to-Knowledge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270249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94B0"/>
                </a:solidFill>
                <a:latin typeface="Arial"/>
              </a:rPr>
              <a:t>When a new technology or process changes, teams wait 3–6 weeks for updated training. Lost productivity, compliance risk, and delayed customer onboarding compound every day the gap exists.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659282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E94B0"/>
                </a:solidFill>
                <a:latin typeface="Arial"/>
              </a:rPr>
              <a:t>© 2026 Cisco and/or its affiliates. All rights reserved. | Cisco Confidential | Hackathon 2026</a:t>
            </a:r>
          </a:p>
        </p:txBody>
      </p:sp>
      <p:sp>
        <p:nvSpPr>
          <p:cNvPr id="1100" name="CardBG_1100"/>
          <p:cNvSpPr/>
          <p:nvPr/>
        </p:nvSpPr>
        <p:spPr>
          <a:xfrm>
            <a:off x="457200" y="1947672"/>
            <a:ext cx="2743200" cy="1417320"/>
          </a:xfrm>
          <a:prstGeom prst="roundRect">
            <a:avLst>
              <a:gd name="adj" fmla="val 3636"/>
            </a:avLst>
          </a:prstGeom>
          <a:solidFill>
            <a:srgbClr val="1A2E4A"/>
          </a:solidFill>
          <a:ln w="9525">
            <a:solidFill>
              <a:srgbClr val="1E3A5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1" name="AccentBar_1101"/>
          <p:cNvSpPr/>
          <p:nvPr/>
        </p:nvSpPr>
        <p:spPr>
          <a:xfrm>
            <a:off x="457200" y="1947672"/>
            <a:ext cx="2743200" cy="4572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txBody>
          <a:bodyPr/>
          <a:lstStyle/>
          <a:p>
            <a:pPr algn="ctr"/>
            <a:endParaRPr/>
          </a:p>
        </p:txBody>
      </p:sp>
      <p:sp>
        <p:nvSpPr>
          <p:cNvPr id="1102" name="TB_1102"/>
          <p:cNvSpPr txBox="1"/>
          <p:nvPr/>
        </p:nvSpPr>
        <p:spPr>
          <a:xfrm>
            <a:off x="511200" y="1993392"/>
            <a:ext cx="26352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endParaRPr/>
          </a:p>
          <a:p>
            <a:pPr algn="ctr"/>
            <a:r>
              <a:rPr sz="3800" b="1" i="0" dirty="0">
                <a:solidFill>
                  <a:srgbClr val="00BCEB"/>
                </a:solidFill>
                <a:latin typeface="Arial"/>
              </a:rPr>
              <a:t>40+ hrs</a:t>
            </a:r>
          </a:p>
          <a:p>
            <a:pPr algn="ctr"/>
            <a:endParaRPr/>
          </a:p>
          <a:p>
            <a:pPr algn="ctr"/>
            <a:r>
              <a:rPr sz="1300" b="0" i="0" dirty="0">
                <a:solidFill>
                  <a:srgbClr val="7E94B0"/>
                </a:solidFill>
                <a:latin typeface="Arial"/>
              </a:rPr>
              <a:t>Avg. production time per video</a:t>
            </a:r>
          </a:p>
        </p:txBody>
      </p:sp>
      <p:sp>
        <p:nvSpPr>
          <p:cNvPr id="1103" name="CardBG_1103"/>
          <p:cNvSpPr/>
          <p:nvPr/>
        </p:nvSpPr>
        <p:spPr>
          <a:xfrm>
            <a:off x="3291840" y="1947672"/>
            <a:ext cx="2743200" cy="1417320"/>
          </a:xfrm>
          <a:prstGeom prst="roundRect">
            <a:avLst>
              <a:gd name="adj" fmla="val 3636"/>
            </a:avLst>
          </a:prstGeom>
          <a:solidFill>
            <a:srgbClr val="1A2E4A"/>
          </a:solidFill>
          <a:ln w="9525">
            <a:solidFill>
              <a:srgbClr val="1E3A5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4" name="AccentBar_1104"/>
          <p:cNvSpPr/>
          <p:nvPr/>
        </p:nvSpPr>
        <p:spPr>
          <a:xfrm>
            <a:off x="3291840" y="1947672"/>
            <a:ext cx="2743200" cy="45720"/>
          </a:xfrm>
          <a:prstGeom prst="rect">
            <a:avLst/>
          </a:prstGeom>
          <a:solidFill>
            <a:srgbClr val="6DBE4E"/>
          </a:solidFill>
          <a:ln>
            <a:noFill/>
          </a:ln>
        </p:spPr>
        <p:txBody>
          <a:bodyPr/>
          <a:lstStyle/>
          <a:p>
            <a:pPr algn="ctr"/>
            <a:endParaRPr/>
          </a:p>
        </p:txBody>
      </p:sp>
      <p:sp>
        <p:nvSpPr>
          <p:cNvPr id="1105" name="TB_1105"/>
          <p:cNvSpPr txBox="1"/>
          <p:nvPr/>
        </p:nvSpPr>
        <p:spPr>
          <a:xfrm>
            <a:off x="3345840" y="1993392"/>
            <a:ext cx="26352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endParaRPr/>
          </a:p>
          <a:p>
            <a:pPr algn="ctr"/>
            <a:r>
              <a:rPr sz="3800" b="1" i="0" dirty="0">
                <a:solidFill>
                  <a:srgbClr val="6DBE4E"/>
                </a:solidFill>
                <a:latin typeface="Arial"/>
              </a:rPr>
              <a:t>$2K–$3K</a:t>
            </a:r>
          </a:p>
          <a:p>
            <a:pPr algn="ctr"/>
            <a:endParaRPr/>
          </a:p>
          <a:p>
            <a:pPr algn="ctr"/>
            <a:r>
              <a:rPr sz="1300" b="0" i="0" dirty="0">
                <a:solidFill>
                  <a:srgbClr val="7E94B0"/>
                </a:solidFill>
                <a:latin typeface="Arial"/>
              </a:rPr>
              <a:t>Avg. production cost</a:t>
            </a:r>
          </a:p>
        </p:txBody>
      </p:sp>
      <p:sp>
        <p:nvSpPr>
          <p:cNvPr id="1106" name="CardBG_1106"/>
          <p:cNvSpPr/>
          <p:nvPr/>
        </p:nvSpPr>
        <p:spPr>
          <a:xfrm>
            <a:off x="6126480" y="1947672"/>
            <a:ext cx="2743200" cy="1417320"/>
          </a:xfrm>
          <a:prstGeom prst="roundRect">
            <a:avLst>
              <a:gd name="adj" fmla="val 3636"/>
            </a:avLst>
          </a:prstGeom>
          <a:solidFill>
            <a:srgbClr val="1A2E4A"/>
          </a:solidFill>
          <a:ln w="9525">
            <a:solidFill>
              <a:srgbClr val="1E3A5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7" name="AccentBar_1107"/>
          <p:cNvSpPr/>
          <p:nvPr/>
        </p:nvSpPr>
        <p:spPr>
          <a:xfrm>
            <a:off x="6126480" y="1947672"/>
            <a:ext cx="27432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/>
          <a:lstStyle/>
          <a:p>
            <a:pPr algn="ctr"/>
            <a:endParaRPr/>
          </a:p>
        </p:txBody>
      </p:sp>
      <p:sp>
        <p:nvSpPr>
          <p:cNvPr id="1108" name="TB_1108"/>
          <p:cNvSpPr txBox="1"/>
          <p:nvPr/>
        </p:nvSpPr>
        <p:spPr>
          <a:xfrm>
            <a:off x="6180480" y="1993392"/>
            <a:ext cx="26352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endParaRPr/>
          </a:p>
          <a:p>
            <a:pPr algn="ctr"/>
            <a:r>
              <a:rPr sz="3800" b="1" i="0" dirty="0">
                <a:solidFill>
                  <a:srgbClr val="FF6B00"/>
                </a:solidFill>
                <a:latin typeface="Arial"/>
              </a:rPr>
              <a:t>3–6 wk</a:t>
            </a:r>
          </a:p>
          <a:p>
            <a:pPr algn="ctr"/>
            <a:endParaRPr/>
          </a:p>
          <a:p>
            <a:pPr algn="ctr"/>
            <a:r>
              <a:rPr sz="1300" b="0" i="0" dirty="0">
                <a:solidFill>
                  <a:srgbClr val="7E94B0"/>
                </a:solidFill>
                <a:latin typeface="Arial"/>
              </a:rPr>
              <a:t>Delivery timeline</a:t>
            </a:r>
          </a:p>
        </p:txBody>
      </p:sp>
      <p:sp>
        <p:nvSpPr>
          <p:cNvPr id="1109" name="CardBG_1109"/>
          <p:cNvSpPr/>
          <p:nvPr/>
        </p:nvSpPr>
        <p:spPr>
          <a:xfrm>
            <a:off x="8961120" y="1947672"/>
            <a:ext cx="2743200" cy="1417320"/>
          </a:xfrm>
          <a:prstGeom prst="roundRect">
            <a:avLst>
              <a:gd name="adj" fmla="val 3636"/>
            </a:avLst>
          </a:prstGeom>
          <a:solidFill>
            <a:srgbClr val="1A2E4A"/>
          </a:solidFill>
          <a:ln w="9525">
            <a:solidFill>
              <a:srgbClr val="1E3A5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0" name="AccentBar_1110"/>
          <p:cNvSpPr/>
          <p:nvPr/>
        </p:nvSpPr>
        <p:spPr>
          <a:xfrm>
            <a:off x="8961120" y="1947672"/>
            <a:ext cx="2743200" cy="4572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txBody>
          <a:bodyPr/>
          <a:lstStyle/>
          <a:p>
            <a:pPr algn="ctr"/>
            <a:endParaRPr/>
          </a:p>
        </p:txBody>
      </p:sp>
      <p:sp>
        <p:nvSpPr>
          <p:cNvPr id="1111" name="TB_1111"/>
          <p:cNvSpPr txBox="1"/>
          <p:nvPr/>
        </p:nvSpPr>
        <p:spPr>
          <a:xfrm>
            <a:off x="9015120" y="1993392"/>
            <a:ext cx="26352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endParaRPr/>
          </a:p>
          <a:p>
            <a:pPr algn="ctr"/>
            <a:r>
              <a:rPr sz="3800" b="1" i="0" dirty="0">
                <a:solidFill>
                  <a:srgbClr val="00BCEB"/>
                </a:solidFill>
                <a:latin typeface="Arial"/>
              </a:rPr>
              <a:t>73%</a:t>
            </a:r>
          </a:p>
          <a:p>
            <a:pPr algn="ctr"/>
            <a:endParaRPr/>
          </a:p>
          <a:p>
            <a:pPr algn="ctr"/>
            <a:r>
              <a:rPr sz="1300" b="0" i="0" dirty="0">
                <a:solidFill>
                  <a:srgbClr val="7E94B0"/>
                </a:solidFill>
                <a:latin typeface="Arial"/>
              </a:rPr>
              <a:t>SMEs report knowledge urgency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CEB"/>
                </a:solidFill>
                <a:latin typeface="Arial"/>
              </a:rPr>
              <a:t>5-STAGE AI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From YouTube URLs to Finished Video — Fully Automated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36576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7E94B0"/>
                </a:solidFill>
                <a:latin typeface="Arial"/>
              </a:rPr>
              <a:t>Every step runs automatically: no video editor, no manual scripting, no SME availability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760720"/>
            <a:ext cx="930859" cy="292608"/>
          </a:xfrm>
          <a:prstGeom prst="roundRect">
            <a:avLst>
              <a:gd name="adj" fmla="val 37500"/>
            </a:avLst>
          </a:prstGeom>
          <a:solidFill>
            <a:srgbClr val="1E3A5F"/>
          </a:solidFill>
          <a:ln w="6350">
            <a:solidFill>
              <a:srgbClr val="007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" y="5806440"/>
            <a:ext cx="83941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CEB"/>
                </a:solidFill>
                <a:latin typeface="Arial"/>
              </a:rPr>
              <a:t>Streamlit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88059" y="5760720"/>
            <a:ext cx="1905609" cy="292608"/>
          </a:xfrm>
          <a:prstGeom prst="roundRect">
            <a:avLst>
              <a:gd name="adj" fmla="val 37500"/>
            </a:avLst>
          </a:prstGeom>
          <a:solidFill>
            <a:srgbClr val="1E3A5F"/>
          </a:solidFill>
          <a:ln w="6350">
            <a:solidFill>
              <a:srgbClr val="007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70355" y="5806440"/>
            <a:ext cx="181416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CEB"/>
                </a:solidFill>
                <a:latin typeface="Arial"/>
              </a:rPr>
              <a:t>text-embedding-3-small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5108" y="5760720"/>
            <a:ext cx="630936" cy="292608"/>
          </a:xfrm>
          <a:prstGeom prst="roundRect">
            <a:avLst>
              <a:gd name="adj" fmla="val 37500"/>
            </a:avLst>
          </a:prstGeom>
          <a:solidFill>
            <a:srgbClr val="1E3A5F"/>
          </a:solidFill>
          <a:ln w="6350">
            <a:solidFill>
              <a:srgbClr val="007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67404" y="5806440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CEB"/>
                </a:solidFill>
                <a:latin typeface="Arial"/>
              </a:rPr>
              <a:t>FAISS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07484" y="5760720"/>
            <a:ext cx="705916" cy="292608"/>
          </a:xfrm>
          <a:prstGeom prst="roundRect">
            <a:avLst>
              <a:gd name="adj" fmla="val 37500"/>
            </a:avLst>
          </a:prstGeom>
          <a:solidFill>
            <a:srgbClr val="1E3A5F"/>
          </a:solidFill>
          <a:ln w="6350">
            <a:solidFill>
              <a:srgbClr val="007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89780" y="5806440"/>
            <a:ext cx="6144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CEB"/>
                </a:solidFill>
                <a:latin typeface="Arial"/>
              </a:rPr>
              <a:t>GPT-4o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4840" y="5760720"/>
            <a:ext cx="1230782" cy="292608"/>
          </a:xfrm>
          <a:prstGeom prst="roundRect">
            <a:avLst>
              <a:gd name="adj" fmla="val 37500"/>
            </a:avLst>
          </a:prstGeom>
          <a:solidFill>
            <a:srgbClr val="1E3A5F"/>
          </a:solidFill>
          <a:ln w="6350">
            <a:solidFill>
              <a:srgbClr val="007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87136" y="5806440"/>
            <a:ext cx="113934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CEB"/>
                </a:solidFill>
                <a:latin typeface="Arial"/>
              </a:rPr>
              <a:t>HeyGen API v2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7062" y="5760720"/>
            <a:ext cx="705916" cy="292608"/>
          </a:xfrm>
          <a:prstGeom prst="roundRect">
            <a:avLst>
              <a:gd name="adj" fmla="val 37500"/>
            </a:avLst>
          </a:prstGeom>
          <a:solidFill>
            <a:srgbClr val="1E3A5F"/>
          </a:solidFill>
          <a:ln w="6350">
            <a:solidFill>
              <a:srgbClr val="007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58" y="5806440"/>
            <a:ext cx="6144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CEB"/>
                </a:solidFill>
                <a:latin typeface="Arial"/>
              </a:rPr>
              <a:t>yt-dlp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24418" y="5760720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1E3A5F"/>
          </a:solidFill>
          <a:ln w="6350">
            <a:solidFill>
              <a:srgbClr val="007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06714" y="5806440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CEB"/>
                </a:solidFill>
                <a:latin typeface="Arial"/>
              </a:rPr>
              <a:t>FFmpeg PiP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659282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E94B0"/>
                </a:solidFill>
                <a:latin typeface="Arial"/>
              </a:rPr>
              <a:t>© 2026 Cisco and/or its affiliates. All rights reserved. | Cisco Confidential | Hackathon 2026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1883664"/>
            <a:ext cx="2121408" cy="3730752"/>
          </a:xfrm>
          <a:prstGeom prst="roundRect">
            <a:avLst>
              <a:gd name="adj" fmla="val 3879"/>
            </a:avLst>
          </a:prstGeom>
          <a:solidFill>
            <a:srgbClr val="1A2E4A"/>
          </a:solidFill>
          <a:ln w="762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" y="1883664"/>
            <a:ext cx="2121408" cy="64008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02336" y="201168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2336" y="201168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929"/>
                </a:solidFill>
                <a:latin typeface="Arial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414016"/>
            <a:ext cx="21214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3054096"/>
            <a:ext cx="1938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CEB"/>
                </a:solidFill>
                <a:latin typeface="Arial"/>
              </a:rPr>
              <a:t>STAGE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3310128"/>
            <a:ext cx="1938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Transcript
Extraction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968495"/>
            <a:ext cx="1938528" cy="27432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80" y="4059936"/>
            <a:ext cx="193852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94B0"/>
                </a:solidFill>
                <a:latin typeface="Arial"/>
              </a:rPr>
              <a:t>LangChain YoutubeLoader pulls captions from every source URL into a unified document corpus.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14016" y="3493008"/>
            <a:ext cx="228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CEB"/>
                </a:solidFill>
                <a:latin typeface="Arial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06040" y="1883664"/>
            <a:ext cx="2121408" cy="3730752"/>
          </a:xfrm>
          <a:prstGeom prst="roundRect">
            <a:avLst>
              <a:gd name="adj" fmla="val 3879"/>
            </a:avLst>
          </a:prstGeom>
          <a:solidFill>
            <a:srgbClr val="1A2E4A"/>
          </a:solidFill>
          <a:ln w="762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606040" y="1883664"/>
            <a:ext cx="2121408" cy="64008"/>
          </a:xfrm>
          <a:prstGeom prst="rect">
            <a:avLst/>
          </a:prstGeom>
          <a:solidFill>
            <a:srgbClr val="6D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2688336" y="201168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6D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688336" y="201168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929"/>
                </a:solidFill>
                <a:latin typeface="Arial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06040" y="2414016"/>
            <a:ext cx="21214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97480" y="3054096"/>
            <a:ext cx="1938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DBE4E"/>
                </a:solidFill>
                <a:latin typeface="Arial"/>
              </a:rPr>
              <a:t>STAGE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97480" y="3310128"/>
            <a:ext cx="1938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RAG Script
Generation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97480" y="3968495"/>
            <a:ext cx="1938528" cy="27432"/>
          </a:xfrm>
          <a:prstGeom prst="rect">
            <a:avLst/>
          </a:prstGeom>
          <a:solidFill>
            <a:srgbClr val="6D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697480" y="4059936"/>
            <a:ext cx="193852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94B0"/>
                </a:solidFill>
                <a:latin typeface="Arial"/>
              </a:rPr>
              <a:t>FAISS vector store + GPT-4o retrieves the most relevant chunks and writes a structured presenter script.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00016" y="3493008"/>
            <a:ext cx="228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DBE4E"/>
                </a:solidFill>
                <a:latin typeface="Arial"/>
              </a:rPr>
              <a:t>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92040" y="1883664"/>
            <a:ext cx="2121408" cy="3730752"/>
          </a:xfrm>
          <a:prstGeom prst="roundRect">
            <a:avLst>
              <a:gd name="adj" fmla="val 3879"/>
            </a:avLst>
          </a:prstGeom>
          <a:solidFill>
            <a:srgbClr val="1A2E4A"/>
          </a:solidFill>
          <a:ln w="762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892040" y="1883664"/>
            <a:ext cx="2121408" cy="64008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974336" y="201168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74336" y="201168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929"/>
                </a:solidFill>
                <a:latin typeface="Arial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92040" y="2414016"/>
            <a:ext cx="21214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🔍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83480" y="3054096"/>
            <a:ext cx="1938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CEB"/>
                </a:solidFill>
                <a:latin typeface="Arial"/>
              </a:rPr>
              <a:t>STAGE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83480" y="3310128"/>
            <a:ext cx="1938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Smart Segment
Selection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3968495"/>
            <a:ext cx="1938528" cy="27432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983480" y="4059936"/>
            <a:ext cx="193852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94B0"/>
                </a:solidFill>
                <a:latin typeface="Arial"/>
              </a:rPr>
              <a:t>AI identifies which exact timestamp ranges are most relevant to the topic — for PiP background footage.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86016" y="3493008"/>
            <a:ext cx="228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CEB"/>
                </a:solidFill>
                <a:latin typeface="Arial"/>
              </a:rPr>
              <a:t>›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78040" y="1883664"/>
            <a:ext cx="2121408" cy="3730752"/>
          </a:xfrm>
          <a:prstGeom prst="roundRect">
            <a:avLst>
              <a:gd name="adj" fmla="val 3879"/>
            </a:avLst>
          </a:prstGeom>
          <a:solidFill>
            <a:srgbClr val="1A2E4A"/>
          </a:solidFill>
          <a:ln w="762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178040" y="1883664"/>
            <a:ext cx="2121408" cy="6400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7260336" y="201168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260336" y="201168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929"/>
                </a:solidFill>
                <a:latin typeface="Arial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78040" y="2414016"/>
            <a:ext cx="21214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🤖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69480" y="3054096"/>
            <a:ext cx="1938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00"/>
                </a:solidFill>
                <a:latin typeface="Arial"/>
              </a:rPr>
              <a:t>STAGE 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69480" y="3310128"/>
            <a:ext cx="1938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HeyGen Avatar
Rendering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69480" y="3968495"/>
            <a:ext cx="1938528" cy="274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269480" y="4059936"/>
            <a:ext cx="193852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94B0"/>
                </a:solidFill>
                <a:latin typeface="Arial"/>
              </a:rPr>
              <a:t>Script submitted to HeyGen REST API v2; chosen avatar and voice render the professional narration video.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72016" y="3493008"/>
            <a:ext cx="228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B00"/>
                </a:solidFill>
                <a:latin typeface="Arial"/>
              </a:rPr>
              <a:t>›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464040" y="1883664"/>
            <a:ext cx="2121408" cy="3730752"/>
          </a:xfrm>
          <a:prstGeom prst="roundRect">
            <a:avLst>
              <a:gd name="adj" fmla="val 3879"/>
            </a:avLst>
          </a:prstGeom>
          <a:solidFill>
            <a:srgbClr val="1A2E4A"/>
          </a:solidFill>
          <a:ln w="762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464040" y="1883664"/>
            <a:ext cx="2121408" cy="64008"/>
          </a:xfrm>
          <a:prstGeom prst="rect">
            <a:avLst/>
          </a:prstGeom>
          <a:solidFill>
            <a:srgbClr val="6D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9546336" y="201168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6D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546336" y="201168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929"/>
                </a:solidFill>
                <a:latin typeface="Arial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64040" y="2414016"/>
            <a:ext cx="21214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🎬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55480" y="3054096"/>
            <a:ext cx="1938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DBE4E"/>
                </a:solidFill>
                <a:latin typeface="Arial"/>
              </a:rPr>
              <a:t>STAGE 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55480" y="3310128"/>
            <a:ext cx="1938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PiP Merge
&amp; Export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555480" y="3968495"/>
            <a:ext cx="1938528" cy="27432"/>
          </a:xfrm>
          <a:prstGeom prst="rect">
            <a:avLst/>
          </a:prstGeom>
          <a:solidFill>
            <a:srgbClr val="6D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555480" y="4059936"/>
            <a:ext cx="193852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94B0"/>
                </a:solidFill>
                <a:latin typeface="Arial"/>
              </a:rPr>
              <a:t>Avatar composited over relevant YouTube clips (full-screen, muted) — broadcast-ready MP4 in minutes.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D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CEB"/>
                </a:solidFill>
                <a:latin typeface="Arial"/>
              </a:rPr>
              <a:t>WHAT MAKES OMNISME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Powerful Features — Zero Video Editing Skills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36576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481328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1A2E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81328"/>
            <a:ext cx="5486400" cy="54864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60934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Arial"/>
              </a:rPr>
              <a:t>🖼️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627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CEB"/>
                </a:solidFill>
                <a:latin typeface="Arial"/>
              </a:rPr>
              <a:t>Picture-in-Picture Mode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103120"/>
            <a:ext cx="5157216" cy="27432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2194560"/>
            <a:ext cx="515721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94B0"/>
                </a:solidFill>
                <a:latin typeface="Arial"/>
              </a:rPr>
              <a:t>Relevant YouTube source clips auto-play as the full-screen background while the avatar narrates — learners see both context and explanation simultaneously. Source-grounded content.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481328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1A2E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45352" y="1481328"/>
            <a:ext cx="5486400" cy="54864"/>
          </a:xfrm>
          <a:prstGeom prst="rect">
            <a:avLst/>
          </a:prstGeom>
          <a:solidFill>
            <a:srgbClr val="6D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9944" y="160934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Arial"/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8584" y="1627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DBE4E"/>
                </a:solidFill>
                <a:latin typeface="Arial"/>
              </a:rPr>
              <a:t>Multi-Avatar &amp; Voice Selection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9944" y="2103120"/>
            <a:ext cx="5157216" cy="27432"/>
          </a:xfrm>
          <a:prstGeom prst="rect">
            <a:avLst/>
          </a:prstGeom>
          <a:solidFill>
            <a:srgbClr val="6D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9944" y="2194560"/>
            <a:ext cx="515721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94B0"/>
                </a:solidFill>
                <a:latin typeface="Arial"/>
              </a:rPr>
              <a:t>Browse your full HeyGen avatar library and voice roster directly in the Streamlit UI. One click switches the presenter persona for different audience segments or regions.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21608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1A2E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721608"/>
            <a:ext cx="5486400" cy="54864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384962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Arial"/>
              </a:rP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38679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CEB"/>
                </a:solidFill>
                <a:latin typeface="Arial"/>
              </a:rPr>
              <a:t>Resilient Render Resumption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4343400"/>
            <a:ext cx="5157216" cy="27432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" y="4434840"/>
            <a:ext cx="515721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94B0"/>
                </a:solidFill>
                <a:latin typeface="Arial"/>
              </a:rPr>
              <a:t>HeyGen renders can take 30+ minutes. OmniSME saves the video ID to session state — resume polling in any later session without losing progress or restarting the pipeline.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3721608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1A2E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45352" y="3721608"/>
            <a:ext cx="548640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9944" y="384962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Arial"/>
              </a:rPr>
              <a:t>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8584" y="38679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00"/>
                </a:solidFill>
                <a:latin typeface="Arial"/>
              </a:rPr>
              <a:t>Source-Grounded Output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9944" y="4343400"/>
            <a:ext cx="5157216" cy="274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9944" y="4434840"/>
            <a:ext cx="515721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94B0"/>
                </a:solidFill>
                <a:latin typeface="Arial"/>
              </a:rPr>
              <a:t>GPT-4o uses ONLY content from the URLs you provide — no hallucinations, no off-topic filler. FAISS RAG retrieval ensures the script reflects your exact knowledge base.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687568"/>
            <a:ext cx="11274552" cy="621792"/>
          </a:xfrm>
          <a:prstGeom prst="rect">
            <a:avLst/>
          </a:prstGeom>
          <a:solidFill>
            <a:srgbClr val="13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5797296"/>
            <a:ext cx="228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DBE4E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8338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94B0"/>
                </a:solidFill>
                <a:latin typeface="Arial"/>
              </a:rPr>
              <a:t>One-click 'Regenerate' to iterate the script without re-entering inputs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5797296"/>
            <a:ext cx="228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DBE4E"/>
                </a:solidFill>
                <a:latin typeface="Arial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58338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94B0"/>
                </a:solidFill>
                <a:latin typeface="Arial"/>
              </a:rPr>
              <a:t>Liked videos sidebar for managing your generated content library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5797296"/>
            <a:ext cx="228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DBE4E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58338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94B0"/>
                </a:solidFill>
                <a:latin typeface="Arial"/>
              </a:rPr>
              <a:t>Graceful fallback to Avatar-Only layout if YouTube download is blocked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659282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E94B0"/>
                </a:solidFill>
                <a:latin typeface="Arial"/>
              </a:rPr>
              <a:t>© 2026 Cisco and/or its affiliates. All rights reserved. | Cisco Confidential | Hackathon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D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CEB"/>
                </a:solidFill>
                <a:latin typeface="Arial"/>
              </a:rPr>
              <a:t>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From Weeks to Minutes — Measurable, Immediate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36576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389888"/>
            <a:ext cx="2651760" cy="1481328"/>
          </a:xfrm>
          <a:prstGeom prst="roundRect">
            <a:avLst>
              <a:gd name="adj" fmla="val 6172"/>
            </a:avLst>
          </a:prstGeom>
          <a:solidFill>
            <a:srgbClr val="1A2E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89888"/>
            <a:ext cx="2651760" cy="54864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BCEB"/>
                </a:solidFill>
                <a:latin typeface="Arial"/>
              </a:rPr>
              <a:t>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5000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94B0"/>
                </a:solidFill>
                <a:latin typeface="Arial"/>
              </a:rPr>
              <a:t>Reduction in production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8416" y="1389888"/>
            <a:ext cx="2651760" cy="1481328"/>
          </a:xfrm>
          <a:prstGeom prst="roundRect">
            <a:avLst>
              <a:gd name="adj" fmla="val 6172"/>
            </a:avLst>
          </a:prstGeom>
          <a:solidFill>
            <a:srgbClr val="1A2E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28416" y="1389888"/>
            <a:ext cx="2651760" cy="54864"/>
          </a:xfrm>
          <a:prstGeom prst="rect">
            <a:avLst/>
          </a:prstGeom>
          <a:solidFill>
            <a:srgbClr val="6D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28416" y="1527048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6DBE4E"/>
                </a:solidFill>
                <a:latin typeface="Arial"/>
              </a:rPr>
              <a:t>25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856" y="235000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94B0"/>
                </a:solidFill>
                <a:latin typeface="Arial"/>
              </a:rPr>
              <a:t>End-to-end generation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389888"/>
            <a:ext cx="2651760" cy="1481328"/>
          </a:xfrm>
          <a:prstGeom prst="roundRect">
            <a:avLst>
              <a:gd name="adj" fmla="val 6172"/>
            </a:avLst>
          </a:prstGeom>
          <a:solidFill>
            <a:srgbClr val="1A2E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9632" y="1389888"/>
            <a:ext cx="265176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99632" y="1527048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6B00"/>
                </a:solidFill>
                <a:latin typeface="Arial"/>
              </a:rPr>
              <a:t>$4.5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35000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94B0"/>
                </a:solidFill>
                <a:latin typeface="Arial"/>
              </a:rPr>
              <a:t>Cost per video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0848" y="1389888"/>
            <a:ext cx="2651760" cy="1481328"/>
          </a:xfrm>
          <a:prstGeom prst="roundRect">
            <a:avLst>
              <a:gd name="adj" fmla="val 6172"/>
            </a:avLst>
          </a:prstGeom>
          <a:solidFill>
            <a:srgbClr val="1A2E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70848" y="1389888"/>
            <a:ext cx="2651760" cy="54864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70848" y="1527048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BCEB"/>
                </a:solidFill>
                <a:latin typeface="Arial"/>
              </a:rPr>
              <a:t>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2350008"/>
            <a:ext cx="24688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7E94B0"/>
                </a:solidFill>
                <a:latin typeface="Arial"/>
              </a:rPr>
              <a:t>Topics scalable</a:t>
            </a:r>
          </a:p>
        </p:txBody>
      </p:sp>
      <p:sp>
        <p:nvSpPr>
          <p:cNvPr id="25" name="Rounded Rectangle 24">
            <a:hlinkClick r:id="rId3"/>
          </p:cNvPr>
          <p:cNvSpPr/>
          <p:nvPr/>
        </p:nvSpPr>
        <p:spPr>
          <a:xfrm>
            <a:off x="9162288" y="4918854"/>
            <a:ext cx="2724912" cy="1463040"/>
          </a:xfrm>
          <a:prstGeom prst="roundRect">
            <a:avLst>
              <a:gd name="adj" fmla="val 6250"/>
            </a:avLst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11199" y="558303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 dirty="0" err="1">
                <a:solidFill>
                  <a:srgbClr val="0D1929"/>
                </a:solidFill>
                <a:latin typeface="Arial"/>
              </a:rPr>
              <a:t>streamlit</a:t>
            </a:r>
            <a:r>
              <a:rPr sz="1400" b="1" i="1" dirty="0">
                <a:solidFill>
                  <a:srgbClr val="0D1929"/>
                </a:solidFill>
                <a:latin typeface="Arial"/>
              </a:rPr>
              <a:t> run </a:t>
            </a:r>
            <a:r>
              <a:rPr sz="1400" b="1" i="1" dirty="0" err="1">
                <a:solidFill>
                  <a:srgbClr val="0D1929"/>
                </a:solidFill>
                <a:latin typeface="Arial"/>
              </a:rPr>
              <a:t>app.py</a:t>
            </a:r>
            <a:endParaRPr sz="1400" b="1" i="1" dirty="0">
              <a:solidFill>
                <a:srgbClr val="0D1929"/>
              </a:solidFill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048639" y="5898745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0D1929"/>
                </a:solidFill>
                <a:latin typeface="Arial"/>
              </a:rPr>
              <a:t>Questions welcome  •  v3.0 Ready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659282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E94B0"/>
                </a:solidFill>
                <a:latin typeface="Arial"/>
              </a:rPr>
              <a:t>© 2026 Cisco and/or its affiliates. All rights reserved. | Cisco Confidential | Hackathon 2026</a:t>
            </a:r>
          </a:p>
        </p:txBody>
      </p:sp>
      <p:sp>
        <p:nvSpPr>
          <p:cNvPr id="1150" name="CardBG_1150"/>
          <p:cNvSpPr/>
          <p:nvPr/>
        </p:nvSpPr>
        <p:spPr>
          <a:xfrm>
            <a:off x="457200" y="2999232"/>
            <a:ext cx="5582412" cy="1654446"/>
          </a:xfrm>
          <a:prstGeom prst="roundRect">
            <a:avLst>
              <a:gd name="adj" fmla="val 3636"/>
            </a:avLst>
          </a:prstGeom>
          <a:solidFill>
            <a:srgbClr val="1A2E4A"/>
          </a:solidFill>
          <a:ln w="9525">
            <a:solidFill>
              <a:srgbClr val="1E3A5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1" name="AccentBar_1151"/>
          <p:cNvSpPr/>
          <p:nvPr/>
        </p:nvSpPr>
        <p:spPr>
          <a:xfrm>
            <a:off x="457200" y="2999232"/>
            <a:ext cx="5582412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/>
          <a:lstStyle/>
          <a:p>
            <a:pPr algn="ctr"/>
            <a:endParaRPr/>
          </a:p>
        </p:txBody>
      </p:sp>
      <p:sp>
        <p:nvSpPr>
          <p:cNvPr id="1152" name="TB_1152"/>
          <p:cNvSpPr txBox="1"/>
          <p:nvPr/>
        </p:nvSpPr>
        <p:spPr>
          <a:xfrm>
            <a:off x="520200" y="3071232"/>
            <a:ext cx="5456412" cy="156444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dirty="0">
                <a:solidFill>
                  <a:srgbClr val="FF6B00"/>
                </a:solidFill>
                <a:latin typeface="Arial"/>
              </a:rPr>
              <a:t>Traditional Approach</a:t>
            </a:r>
          </a:p>
          <a:p>
            <a:pPr algn="l"/>
            <a:endParaRPr/>
          </a:p>
          <a:p>
            <a:pPr algn="l"/>
            <a:r>
              <a:rPr sz="1100" b="1" i="0" dirty="0">
                <a:solidFill>
                  <a:srgbClr val="FF6B00"/>
                </a:solidFill>
                <a:latin typeface="Arial"/>
              </a:rPr>
              <a:t>✕  </a:t>
            </a:r>
            <a:r>
              <a:rPr sz="1300" b="0" i="0" dirty="0">
                <a:solidFill>
                  <a:srgbClr val="B0BAC4"/>
                </a:solidFill>
                <a:latin typeface="Arial"/>
              </a:rPr>
              <a:t>40 + hours per training video</a:t>
            </a:r>
          </a:p>
          <a:p>
            <a:pPr algn="l"/>
            <a:r>
              <a:rPr sz="1100" b="1" i="0" dirty="0">
                <a:solidFill>
                  <a:srgbClr val="FF6B00"/>
                </a:solidFill>
                <a:latin typeface="Arial"/>
              </a:rPr>
              <a:t>✕  </a:t>
            </a:r>
            <a:r>
              <a:rPr sz="1300" b="0" i="0" dirty="0">
                <a:solidFill>
                  <a:srgbClr val="B0BAC4"/>
                </a:solidFill>
                <a:latin typeface="Arial"/>
              </a:rPr>
              <a:t>$2,000 – $3,000 production cost</a:t>
            </a:r>
          </a:p>
          <a:p>
            <a:pPr algn="l"/>
            <a:r>
              <a:rPr sz="1100" b="1" i="0" dirty="0">
                <a:solidFill>
                  <a:srgbClr val="FF6B00"/>
                </a:solidFill>
                <a:latin typeface="Arial"/>
              </a:rPr>
              <a:t>✕  </a:t>
            </a:r>
            <a:r>
              <a:rPr sz="1300" b="0" i="0" dirty="0">
                <a:solidFill>
                  <a:srgbClr val="B0BAC4"/>
                </a:solidFill>
                <a:latin typeface="Arial"/>
              </a:rPr>
              <a:t>3 – 6 week delivery timeline</a:t>
            </a:r>
          </a:p>
          <a:p>
            <a:pPr algn="l"/>
            <a:r>
              <a:rPr sz="1100" b="1" i="0" dirty="0">
                <a:solidFill>
                  <a:srgbClr val="FF6B00"/>
                </a:solidFill>
                <a:latin typeface="Arial"/>
              </a:rPr>
              <a:t>✕  </a:t>
            </a:r>
            <a:r>
              <a:rPr sz="1300" b="0" i="0" dirty="0">
                <a:solidFill>
                  <a:srgbClr val="B0BAC4"/>
                </a:solidFill>
                <a:latin typeface="Arial"/>
              </a:rPr>
              <a:t>Professional video team required</a:t>
            </a:r>
          </a:p>
          <a:p>
            <a:pPr algn="l"/>
            <a:r>
              <a:rPr sz="1100" b="1" i="0" dirty="0">
                <a:solidFill>
                  <a:srgbClr val="FF6B00"/>
                </a:solidFill>
                <a:latin typeface="Arial"/>
              </a:rPr>
              <a:t>✕  </a:t>
            </a:r>
            <a:r>
              <a:rPr sz="1300" b="0" i="0" dirty="0">
                <a:solidFill>
                  <a:srgbClr val="B0BAC4"/>
                </a:solidFill>
                <a:latin typeface="Arial"/>
              </a:rPr>
              <a:t>SME availability bottleneck</a:t>
            </a:r>
          </a:p>
        </p:txBody>
      </p:sp>
      <p:sp>
        <p:nvSpPr>
          <p:cNvPr id="1153" name="CardBG_1153"/>
          <p:cNvSpPr/>
          <p:nvPr/>
        </p:nvSpPr>
        <p:spPr>
          <a:xfrm>
            <a:off x="6149340" y="2999232"/>
            <a:ext cx="5582412" cy="1654446"/>
          </a:xfrm>
          <a:prstGeom prst="roundRect">
            <a:avLst>
              <a:gd name="adj" fmla="val 3636"/>
            </a:avLst>
          </a:prstGeom>
          <a:solidFill>
            <a:srgbClr val="1A2E4A"/>
          </a:solidFill>
          <a:ln w="9525">
            <a:solidFill>
              <a:srgbClr val="1E3A5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4" name="AccentBar_1154"/>
          <p:cNvSpPr/>
          <p:nvPr/>
        </p:nvSpPr>
        <p:spPr>
          <a:xfrm>
            <a:off x="6149340" y="2999232"/>
            <a:ext cx="5582412" cy="45720"/>
          </a:xfrm>
          <a:prstGeom prst="rect">
            <a:avLst/>
          </a:prstGeom>
          <a:solidFill>
            <a:srgbClr val="6DBE4E"/>
          </a:solidFill>
          <a:ln>
            <a:noFill/>
          </a:ln>
        </p:spPr>
        <p:txBody>
          <a:bodyPr/>
          <a:lstStyle/>
          <a:p>
            <a:pPr algn="ctr"/>
            <a:endParaRPr/>
          </a:p>
        </p:txBody>
      </p:sp>
      <p:sp>
        <p:nvSpPr>
          <p:cNvPr id="1155" name="TB_1155"/>
          <p:cNvSpPr txBox="1"/>
          <p:nvPr/>
        </p:nvSpPr>
        <p:spPr>
          <a:xfrm>
            <a:off x="6212340" y="3071232"/>
            <a:ext cx="5456412" cy="156444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dirty="0">
                <a:solidFill>
                  <a:srgbClr val="6DBE4E"/>
                </a:solidFill>
                <a:latin typeface="Arial"/>
              </a:rPr>
              <a:t>With OmniSME AI</a:t>
            </a:r>
          </a:p>
          <a:p>
            <a:pPr algn="l"/>
            <a:endParaRPr/>
          </a:p>
          <a:p>
            <a:pPr algn="l"/>
            <a:r>
              <a:rPr sz="1100" b="1" i="0" dirty="0">
                <a:solidFill>
                  <a:srgbClr val="6DBE4E"/>
                </a:solidFill>
                <a:latin typeface="Arial"/>
              </a:rPr>
              <a:t>✓  </a:t>
            </a:r>
            <a:r>
              <a:rPr sz="1300" b="0" i="0" dirty="0">
                <a:solidFill>
                  <a:srgbClr val="B0BAC4"/>
                </a:solidFill>
                <a:latin typeface="Arial"/>
              </a:rPr>
              <a:t>Under 25 minutes end-to-end</a:t>
            </a:r>
          </a:p>
          <a:p>
            <a:pPr algn="l"/>
            <a:r>
              <a:rPr sz="1100" b="1" i="0" dirty="0">
                <a:solidFill>
                  <a:srgbClr val="6DBE4E"/>
                </a:solidFill>
                <a:latin typeface="Arial"/>
              </a:rPr>
              <a:t>✓  </a:t>
            </a:r>
            <a:r>
              <a:rPr sz="1300" b="0" i="0" dirty="0">
                <a:solidFill>
                  <a:srgbClr val="B0BAC4"/>
                </a:solidFill>
                <a:latin typeface="Arial"/>
              </a:rPr>
              <a:t>~$4.50 in API costs</a:t>
            </a:r>
          </a:p>
          <a:p>
            <a:pPr algn="l"/>
            <a:r>
              <a:rPr sz="1100" b="1" i="0" dirty="0">
                <a:solidFill>
                  <a:srgbClr val="6DBE4E"/>
                </a:solidFill>
                <a:latin typeface="Arial"/>
              </a:rPr>
              <a:t>✓  </a:t>
            </a:r>
            <a:r>
              <a:rPr sz="1300" b="0" i="0" dirty="0">
                <a:solidFill>
                  <a:srgbClr val="B0BAC4"/>
                </a:solidFill>
                <a:latin typeface="Arial"/>
              </a:rPr>
              <a:t>Same-day delivery</a:t>
            </a:r>
          </a:p>
          <a:p>
            <a:pPr algn="l"/>
            <a:r>
              <a:rPr sz="1100" b="1" i="0" dirty="0">
                <a:solidFill>
                  <a:srgbClr val="6DBE4E"/>
                </a:solidFill>
                <a:latin typeface="Arial"/>
              </a:rPr>
              <a:t>✓  </a:t>
            </a:r>
            <a:r>
              <a:rPr sz="1300" b="0" i="0" dirty="0">
                <a:solidFill>
                  <a:srgbClr val="B0BAC4"/>
                </a:solidFill>
                <a:latin typeface="Arial"/>
              </a:rPr>
              <a:t>Zero video editing skills needed</a:t>
            </a:r>
          </a:p>
          <a:p>
            <a:pPr algn="l"/>
            <a:r>
              <a:rPr sz="1100" b="1" i="0" dirty="0">
                <a:solidFill>
                  <a:srgbClr val="6DBE4E"/>
                </a:solidFill>
                <a:latin typeface="Arial"/>
              </a:rPr>
              <a:t>✓  </a:t>
            </a:r>
            <a:r>
              <a:rPr sz="1300" b="0" i="0" dirty="0">
                <a:solidFill>
                  <a:srgbClr val="B0BAC4"/>
                </a:solidFill>
                <a:latin typeface="Arial"/>
              </a:rPr>
              <a:t>No SME time required</a:t>
            </a:r>
          </a:p>
        </p:txBody>
      </p:sp>
      <p:sp>
        <p:nvSpPr>
          <p:cNvPr id="1200" name="CardBG_1200"/>
          <p:cNvSpPr/>
          <p:nvPr/>
        </p:nvSpPr>
        <p:spPr>
          <a:xfrm>
            <a:off x="457200" y="4863125"/>
            <a:ext cx="2772373" cy="1640000"/>
          </a:xfrm>
          <a:prstGeom prst="roundRect">
            <a:avLst>
              <a:gd name="adj" fmla="val 3636"/>
            </a:avLst>
          </a:prstGeom>
          <a:solidFill>
            <a:srgbClr val="1A2E4A"/>
          </a:solidFill>
          <a:ln w="9525">
            <a:solidFill>
              <a:srgbClr val="1E3A5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1" name="AccentBar_1201"/>
          <p:cNvSpPr/>
          <p:nvPr/>
        </p:nvSpPr>
        <p:spPr>
          <a:xfrm>
            <a:off x="457200" y="4863125"/>
            <a:ext cx="2772373" cy="4572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txBody>
          <a:bodyPr/>
          <a:lstStyle/>
          <a:p>
            <a:pPr algn="ctr"/>
            <a:endParaRPr/>
          </a:p>
        </p:txBody>
      </p:sp>
      <p:sp>
        <p:nvSpPr>
          <p:cNvPr id="1202" name="TB_1202"/>
          <p:cNvSpPr txBox="1"/>
          <p:nvPr/>
        </p:nvSpPr>
        <p:spPr>
          <a:xfrm>
            <a:off x="511200" y="4926125"/>
            <a:ext cx="2664373" cy="15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dirty="0">
                <a:solidFill>
                  <a:srgbClr val="00BCEB"/>
                </a:solidFill>
                <a:latin typeface="Arial"/>
              </a:rPr>
              <a:t>NOW  ·  v3.0</a:t>
            </a:r>
          </a:p>
          <a:p>
            <a:pPr algn="l"/>
            <a:r>
              <a:rPr sz="1500" b="1" i="0" dirty="0">
                <a:solidFill>
                  <a:srgbClr val="FFFFFF"/>
                </a:solidFill>
                <a:latin typeface="Arial"/>
              </a:rPr>
              <a:t>Core Platform</a:t>
            </a:r>
          </a:p>
          <a:p>
            <a:pPr algn="l"/>
            <a:endParaRPr/>
          </a:p>
          <a:p>
            <a:pPr algn="l"/>
            <a:r>
              <a:rPr sz="1200" b="0" i="0" dirty="0">
                <a:solidFill>
                  <a:srgbClr val="7E94B0"/>
                </a:solidFill>
                <a:latin typeface="Arial"/>
              </a:rPr>
              <a:t>·  YouTube RAG transcript pipeline</a:t>
            </a:r>
          </a:p>
          <a:p>
            <a:pPr algn="l"/>
            <a:r>
              <a:rPr sz="1200" b="0" i="0" dirty="0">
                <a:solidFill>
                  <a:srgbClr val="7E94B0"/>
                </a:solidFill>
                <a:latin typeface="Arial"/>
              </a:rPr>
              <a:t>·  HeyGen AI avatar render</a:t>
            </a:r>
          </a:p>
          <a:p>
            <a:pPr algn="l"/>
            <a:r>
              <a:rPr sz="1200" b="0" i="0" dirty="0">
                <a:solidFill>
                  <a:srgbClr val="7E94B0"/>
                </a:solidFill>
                <a:latin typeface="Arial"/>
              </a:rPr>
              <a:t>·  PiP layout with smart segments</a:t>
            </a:r>
          </a:p>
          <a:p>
            <a:pPr algn="l"/>
            <a:r>
              <a:rPr sz="1200" b="0" i="0" dirty="0">
                <a:solidFill>
                  <a:srgbClr val="7E94B0"/>
                </a:solidFill>
                <a:latin typeface="Arial"/>
              </a:rPr>
              <a:t>·  Resilient render resumption</a:t>
            </a:r>
          </a:p>
        </p:txBody>
      </p:sp>
      <p:sp>
        <p:nvSpPr>
          <p:cNvPr id="1203" name="CardBG_1203"/>
          <p:cNvSpPr/>
          <p:nvPr/>
        </p:nvSpPr>
        <p:spPr>
          <a:xfrm>
            <a:off x="3321013" y="4863125"/>
            <a:ext cx="2772373" cy="1640000"/>
          </a:xfrm>
          <a:prstGeom prst="roundRect">
            <a:avLst>
              <a:gd name="adj" fmla="val 3636"/>
            </a:avLst>
          </a:prstGeom>
          <a:solidFill>
            <a:srgbClr val="1A2E4A"/>
          </a:solidFill>
          <a:ln w="9525">
            <a:solidFill>
              <a:srgbClr val="1E3A5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4" name="AccentBar_1204"/>
          <p:cNvSpPr/>
          <p:nvPr/>
        </p:nvSpPr>
        <p:spPr>
          <a:xfrm>
            <a:off x="3321013" y="4863125"/>
            <a:ext cx="2772373" cy="45720"/>
          </a:xfrm>
          <a:prstGeom prst="rect">
            <a:avLst/>
          </a:prstGeom>
          <a:solidFill>
            <a:srgbClr val="6DBE4E"/>
          </a:solidFill>
          <a:ln>
            <a:noFill/>
          </a:ln>
        </p:spPr>
        <p:txBody>
          <a:bodyPr/>
          <a:lstStyle/>
          <a:p>
            <a:pPr algn="ctr"/>
            <a:endParaRPr/>
          </a:p>
        </p:txBody>
      </p:sp>
      <p:sp>
        <p:nvSpPr>
          <p:cNvPr id="1205" name="TB_1205"/>
          <p:cNvSpPr txBox="1"/>
          <p:nvPr/>
        </p:nvSpPr>
        <p:spPr>
          <a:xfrm>
            <a:off x="3375013" y="4926125"/>
            <a:ext cx="2664373" cy="15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dirty="0">
                <a:solidFill>
                  <a:srgbClr val="6DBE4E"/>
                </a:solidFill>
                <a:latin typeface="Arial"/>
              </a:rPr>
              <a:t>NEXT  ·  v4.0</a:t>
            </a:r>
          </a:p>
          <a:p>
            <a:pPr algn="l"/>
            <a:r>
              <a:rPr sz="1500" b="1" i="0" dirty="0">
                <a:solidFill>
                  <a:srgbClr val="FFFFFF"/>
                </a:solidFill>
                <a:latin typeface="Arial"/>
              </a:rPr>
              <a:t>Enterprise Ready</a:t>
            </a:r>
          </a:p>
          <a:p>
            <a:pPr algn="l"/>
            <a:endParaRPr/>
          </a:p>
          <a:p>
            <a:pPr algn="l"/>
            <a:r>
              <a:rPr sz="1200" b="0" i="0" dirty="0">
                <a:solidFill>
                  <a:srgbClr val="7E94B0"/>
                </a:solidFill>
                <a:latin typeface="Arial"/>
              </a:rPr>
              <a:t>·  SharePoint / Confluence sources</a:t>
            </a:r>
          </a:p>
          <a:p>
            <a:pPr algn="l"/>
            <a:r>
              <a:rPr sz="1200" b="0" i="0" dirty="0">
                <a:solidFill>
                  <a:srgbClr val="7E94B0"/>
                </a:solidFill>
                <a:latin typeface="Arial"/>
              </a:rPr>
              <a:t>·  SCORM / LMS export</a:t>
            </a:r>
          </a:p>
          <a:p>
            <a:pPr algn="l"/>
            <a:r>
              <a:rPr sz="1200" b="0" i="0" dirty="0">
                <a:solidFill>
                  <a:srgbClr val="7E94B0"/>
                </a:solidFill>
                <a:latin typeface="Arial"/>
              </a:rPr>
              <a:t>·  Batch topic processing</a:t>
            </a:r>
          </a:p>
          <a:p>
            <a:pPr algn="l"/>
            <a:r>
              <a:rPr sz="1200" b="0" i="0" dirty="0">
                <a:solidFill>
                  <a:srgbClr val="7E94B0"/>
                </a:solidFill>
                <a:latin typeface="Arial"/>
              </a:rPr>
              <a:t>·  Multi-language voice support</a:t>
            </a:r>
          </a:p>
        </p:txBody>
      </p:sp>
      <p:sp>
        <p:nvSpPr>
          <p:cNvPr id="1206" name="CardBG_1206"/>
          <p:cNvSpPr/>
          <p:nvPr/>
        </p:nvSpPr>
        <p:spPr>
          <a:xfrm>
            <a:off x="6184826" y="4863125"/>
            <a:ext cx="2772373" cy="1640000"/>
          </a:xfrm>
          <a:prstGeom prst="roundRect">
            <a:avLst>
              <a:gd name="adj" fmla="val 3636"/>
            </a:avLst>
          </a:prstGeom>
          <a:solidFill>
            <a:srgbClr val="1A2E4A"/>
          </a:solidFill>
          <a:ln w="9525">
            <a:solidFill>
              <a:srgbClr val="1E3A5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7" name="AccentBar_1207"/>
          <p:cNvSpPr/>
          <p:nvPr/>
        </p:nvSpPr>
        <p:spPr>
          <a:xfrm>
            <a:off x="6184826" y="4863125"/>
            <a:ext cx="2772373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/>
          <a:lstStyle/>
          <a:p>
            <a:pPr algn="ctr"/>
            <a:endParaRPr/>
          </a:p>
        </p:txBody>
      </p:sp>
      <p:sp>
        <p:nvSpPr>
          <p:cNvPr id="1208" name="TB_1208"/>
          <p:cNvSpPr txBox="1"/>
          <p:nvPr/>
        </p:nvSpPr>
        <p:spPr>
          <a:xfrm>
            <a:off x="6238826" y="4926125"/>
            <a:ext cx="2664373" cy="15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dirty="0">
                <a:solidFill>
                  <a:srgbClr val="FF6B00"/>
                </a:solidFill>
                <a:latin typeface="Arial"/>
              </a:rPr>
              <a:t>FUTURE  ·  v5.0</a:t>
            </a:r>
          </a:p>
          <a:p>
            <a:pPr algn="l"/>
            <a:r>
              <a:rPr sz="1500" b="1" i="0" dirty="0">
                <a:solidFill>
                  <a:srgbClr val="FFFFFF"/>
                </a:solidFill>
                <a:latin typeface="Arial"/>
              </a:rPr>
              <a:t>Scale &amp; Intelligence</a:t>
            </a:r>
          </a:p>
          <a:p>
            <a:pPr algn="l"/>
            <a:endParaRPr/>
          </a:p>
          <a:p>
            <a:pPr algn="l"/>
            <a:r>
              <a:rPr sz="1200" b="0" i="0" dirty="0">
                <a:solidFill>
                  <a:srgbClr val="7E94B0"/>
                </a:solidFill>
                <a:latin typeface="Arial"/>
              </a:rPr>
              <a:t>·  Cisco Webex meeting ingestion</a:t>
            </a:r>
          </a:p>
          <a:p>
            <a:pPr algn="l"/>
            <a:r>
              <a:rPr sz="1200" b="0" i="0" dirty="0">
                <a:solidFill>
                  <a:srgbClr val="7E94B0"/>
                </a:solidFill>
                <a:latin typeface="Arial"/>
              </a:rPr>
              <a:t>·  Auto-quiz generation (AI)</a:t>
            </a:r>
          </a:p>
          <a:p>
            <a:pPr algn="l"/>
            <a:r>
              <a:rPr sz="1200" b="0" i="0" dirty="0">
                <a:solidFill>
                  <a:srgbClr val="7E94B0"/>
                </a:solidFill>
                <a:latin typeface="Arial"/>
              </a:rPr>
              <a:t>·  Analytics dashboard</a:t>
            </a:r>
          </a:p>
          <a:p>
            <a:pPr algn="l"/>
            <a:r>
              <a:rPr sz="1200" b="0" i="0" dirty="0">
                <a:solidFill>
                  <a:srgbClr val="7E94B0"/>
                </a:solidFill>
                <a:latin typeface="Arial"/>
              </a:rPr>
              <a:t>·  Custom avatar branding</a:t>
            </a:r>
          </a:p>
        </p:txBody>
      </p:sp>
      <p:sp>
        <p:nvSpPr>
          <p:cNvPr id="31" name="Rounded Rectangle 30">
            <a:hlinkClick r:id="rId4"/>
            <a:extLst>
              <a:ext uri="{FF2B5EF4-FFF2-40B4-BE49-F238E27FC236}">
                <a16:creationId xmlns:a16="http://schemas.microsoft.com/office/drawing/2014/main" id="{7A111B37-6AFB-7864-DF30-C40F5A803B03}"/>
              </a:ext>
            </a:extLst>
          </p:cNvPr>
          <p:cNvSpPr/>
          <p:nvPr/>
        </p:nvSpPr>
        <p:spPr>
          <a:xfrm>
            <a:off x="9734439" y="5033667"/>
            <a:ext cx="1645920" cy="421347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Let’s Demo</a:t>
            </a:r>
          </a:p>
        </p:txBody>
      </p:sp>
      <p:pic>
        <p:nvPicPr>
          <p:cNvPr id="34" name="Graphic 33" descr="Right pointing backhand index with solid fill">
            <a:extLst>
              <a:ext uri="{FF2B5EF4-FFF2-40B4-BE49-F238E27FC236}">
                <a16:creationId xmlns:a16="http://schemas.microsoft.com/office/drawing/2014/main" id="{7022358C-93BD-F16A-0EC0-7684A3D5A5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25858" y="4922873"/>
            <a:ext cx="595517" cy="5955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60B3C0-41D8-B896-9D83-37BE6A481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C5D4DF-FD0A-2717-27E0-3EB593A7FCF9}"/>
              </a:ext>
            </a:extLst>
          </p:cNvPr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92320D-2426-9B3F-8B25-FE5291FC702E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D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7A02C6-482F-B69F-67BE-5C860088E438}"/>
              </a:ext>
            </a:extLst>
          </p:cNvPr>
          <p:cNvSpPr txBox="1"/>
          <p:nvPr/>
        </p:nvSpPr>
        <p:spPr>
          <a:xfrm>
            <a:off x="457200" y="253420"/>
            <a:ext cx="11247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OmniSME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App - Screenshot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5B2EDB0-4945-5263-673B-E40ED29C5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852" y="894153"/>
            <a:ext cx="11247120" cy="506969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9AAD3B9-CDB7-35D3-6B43-BBC9E0E07F2E}"/>
              </a:ext>
            </a:extLst>
          </p:cNvPr>
          <p:cNvSpPr txBox="1"/>
          <p:nvPr/>
        </p:nvSpPr>
        <p:spPr>
          <a:xfrm>
            <a:off x="3294175" y="5963847"/>
            <a:ext cx="67297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Video Demo available at :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  <a:hlinkClick r:id="rId4"/>
              </a:rPr>
              <a:t>https://app.vidcast.io/share/cb5d873f-f41b-4f88-9a27-a7bce77d84e3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30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918</TotalTime>
  <Words>2211</Words>
  <Application>Microsoft Macintosh PowerPoint</Application>
  <PresentationFormat>Custom</PresentationFormat>
  <Paragraphs>207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Hardik Raval (haraval)</cp:lastModifiedBy>
  <cp:revision>25</cp:revision>
  <cp:lastPrinted>2026-06-17T15:25:44Z</cp:lastPrinted>
  <dcterms:created xsi:type="dcterms:W3CDTF">2013-01-27T09:14:16Z</dcterms:created>
  <dcterms:modified xsi:type="dcterms:W3CDTF">2026-06-18T13:23:53Z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Cisco Confidential</vt:lpwstr>
  </property>
</Properties>
</file>